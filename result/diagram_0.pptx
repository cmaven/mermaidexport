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" y="822959"/>
            <a:ext cx="1551003" cy="255595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7C3AED"/>
            </a:solidFill>
          </a:ln>
          <a:effectLst/>
        </p:spPr>
        <p:txBody>
          <a:bodyPr rtlCol="0" anchor="ctr" tIns="0" bIns="0"/>
          <a:lstStyle/>
          <a:p>
            <a:pPr algn="ctr"/>
          </a:p>
        </p:txBody>
      </p:sp>
      <p:sp>
        <p:nvSpPr>
          <p:cNvPr id="3" name="Round Same Side Corner Rectangle 2"/>
          <p:cNvSpPr/>
          <p:nvPr/>
        </p:nvSpPr>
        <p:spPr>
          <a:xfrm>
            <a:off x="274320" y="822959"/>
            <a:ext cx="1551003" cy="237744"/>
          </a:xfrm>
          <a:prstGeom prst="round2SameRect">
            <a:avLst>
              <a:gd name="adj1" fmla="val 19230"/>
              <a:gd name="adj2" fmla="val 0"/>
            </a:avLst>
          </a:prstGeom>
          <a:solidFill>
            <a:srgbClr val="F5F3FF"/>
          </a:solidFill>
          <a:ln w="9525">
            <a:solidFill>
              <a:srgbClr val="7C3AED"/>
            </a:solidFill>
          </a:ln>
          <a:effectLst/>
        </p:spPr>
        <p:txBody>
          <a:bodyPr rtlCol="0" anchor="ctr" wrap="square" tIns="38100" bIns="25400" lIns="76200" rIns="76200"/>
          <a:lstStyle/>
          <a:p>
            <a:pPr algn="ctr"/>
            <a:r>
              <a:rPr sz="900" b="1">
                <a:solidFill>
                  <a:srgbClr val="7C3AED"/>
                </a:solidFill>
                <a:ea typeface="맑은 고딕"/>
                <a:latin typeface="맑은 고딕"/>
              </a:rPr>
              <a:t>Control Plane (ns: npu-operator)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02273" y="822959"/>
            <a:ext cx="1551003" cy="2084083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16A34A"/>
            </a:solidFill>
          </a:ln>
          <a:effectLst/>
        </p:spPr>
        <p:txBody>
          <a:bodyPr rtlCol="0" anchor="ctr" tIns="0" bIns="0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2002273" y="822959"/>
            <a:ext cx="1551003" cy="237744"/>
          </a:xfrm>
          <a:prstGeom prst="round2SameRect">
            <a:avLst>
              <a:gd name="adj1" fmla="val 19230"/>
              <a:gd name="adj2" fmla="val 0"/>
            </a:avLst>
          </a:prstGeom>
          <a:solidFill>
            <a:srgbClr val="F0FDF4"/>
          </a:solidFill>
          <a:ln w="9525">
            <a:solidFill>
              <a:srgbClr val="16A34A"/>
            </a:solidFill>
          </a:ln>
          <a:effectLst/>
        </p:spPr>
        <p:txBody>
          <a:bodyPr rtlCol="0" anchor="ctr" wrap="square" tIns="38100" bIns="25400" lIns="76200" rIns="76200"/>
          <a:lstStyle/>
          <a:p>
            <a:pPr algn="ctr"/>
            <a:r>
              <a:rPr sz="900" b="1">
                <a:solidFill>
                  <a:srgbClr val="16A34A"/>
                </a:solidFill>
                <a:ea typeface="맑은 고딕"/>
                <a:latin typeface="맑은 고딕"/>
              </a:rPr>
              <a:t>CRDs (npu.ai/v1alpha1) — NCP: Namespaced, NDR·DIP·DUS: 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0227" y="822959"/>
            <a:ext cx="1551003" cy="161221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3B82F6"/>
            </a:solidFill>
          </a:ln>
          <a:effectLst/>
        </p:spPr>
        <p:txBody>
          <a:bodyPr rtlCol="0" anchor="ctr" tIns="0" bIns="0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>
            <a:off x="3730227" y="822959"/>
            <a:ext cx="1551003" cy="237744"/>
          </a:xfrm>
          <a:prstGeom prst="round2SameRect">
            <a:avLst>
              <a:gd name="adj1" fmla="val 19230"/>
              <a:gd name="adj2" fmla="val 0"/>
            </a:avLst>
          </a:prstGeom>
          <a:solidFill>
            <a:srgbClr val="EFF6FF"/>
          </a:solidFill>
          <a:ln w="9525">
            <a:solidFill>
              <a:srgbClr val="3B82F6"/>
            </a:solidFill>
          </a:ln>
          <a:effectLst/>
        </p:spPr>
        <p:txBody>
          <a:bodyPr rtlCol="0" anchor="ctr" wrap="square" tIns="38100" bIns="25400" lIns="76200" rIns="76200"/>
          <a:lstStyle/>
          <a:p>
            <a:pPr algn="ctr"/>
            <a:r>
              <a:rPr sz="900" b="1">
                <a:solidFill>
                  <a:srgbClr val="3B82F6"/>
                </a:solidFill>
                <a:ea typeface="맑은 고딕"/>
                <a:latin typeface="맑은 고딕"/>
              </a:rPr>
              <a:t>Worker Node (GPU — NVIDIA)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555861"/>
            <a:ext cx="1551003" cy="161221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EA580C"/>
            </a:solidFill>
          </a:ln>
          <a:effectLst/>
        </p:spPr>
        <p:txBody>
          <a:bodyPr rtlCol="0" anchor="ctr" tIns="0" bIns="0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>
            <a:off x="274320" y="3555861"/>
            <a:ext cx="1551003" cy="237744"/>
          </a:xfrm>
          <a:prstGeom prst="round2SameRect">
            <a:avLst>
              <a:gd name="adj1" fmla="val 19230"/>
              <a:gd name="adj2" fmla="val 0"/>
            </a:avLst>
          </a:prstGeom>
          <a:solidFill>
            <a:srgbClr val="FFF7ED"/>
          </a:solidFill>
          <a:ln w="9525">
            <a:solidFill>
              <a:srgbClr val="EA580C"/>
            </a:solidFill>
          </a:ln>
          <a:effectLst/>
        </p:spPr>
        <p:txBody>
          <a:bodyPr rtlCol="0" anchor="ctr" wrap="square" tIns="38100" bIns="25400" lIns="76200" rIns="76200"/>
          <a:lstStyle/>
          <a:p>
            <a:pPr algn="ctr"/>
            <a:r>
              <a:rPr sz="900" b="1">
                <a:solidFill>
                  <a:srgbClr val="EA580C"/>
                </a:solidFill>
                <a:ea typeface="맑은 고딕"/>
                <a:latin typeface="맑은 고딕"/>
              </a:rPr>
              <a:t>Worker Node (NPU — Furiosa Warboy/RNGD)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02273" y="3555861"/>
            <a:ext cx="1551003" cy="1612215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9525">
            <a:solidFill>
              <a:srgbClr val="D97706"/>
            </a:solidFill>
          </a:ln>
          <a:effectLst/>
        </p:spPr>
        <p:txBody>
          <a:bodyPr rtlCol="0" anchor="ctr" tIns="0" bIns="0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2002273" y="3555861"/>
            <a:ext cx="1551003" cy="237744"/>
          </a:xfrm>
          <a:prstGeom prst="round2SameRect">
            <a:avLst>
              <a:gd name="adj1" fmla="val 19230"/>
              <a:gd name="adj2" fmla="val 0"/>
            </a:avLst>
          </a:prstGeom>
          <a:solidFill>
            <a:srgbClr val="FFFBEB"/>
          </a:solidFill>
          <a:ln w="9525">
            <a:solidFill>
              <a:srgbClr val="D97706"/>
            </a:solidFill>
          </a:ln>
          <a:effectLst/>
        </p:spPr>
        <p:txBody>
          <a:bodyPr rtlCol="0" anchor="ctr" wrap="square" tIns="38100" bIns="25400" lIns="76200" rIns="76200"/>
          <a:lstStyle/>
          <a:p>
            <a:pPr algn="ctr"/>
            <a:r>
              <a:rPr sz="900" b="1">
                <a:solidFill>
                  <a:srgbClr val="D97706"/>
                </a:solidFill>
                <a:ea typeface="맑은 고딕"/>
                <a:latin typeface="맑은 고딕"/>
              </a:rPr>
              <a:t>Worker Node (NPU — Rebellions / Tenstorrent)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286" y="1078555"/>
            <a:ext cx="786446" cy="294917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Deployment: npu-operator-controller-manager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2286" y="1550422"/>
            <a:ext cx="786446" cy="294917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NPUClusterPolicyReconciler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286" y="2022290"/>
            <a:ext cx="786446" cy="294917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R2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2286" y="2494158"/>
            <a:ext cx="786446" cy="294917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R3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2286" y="2966026"/>
            <a:ext cx="786446" cy="294917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R4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20240" y="1078555"/>
            <a:ext cx="786446" cy="294917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47857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NPUClusterPolicy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20240" y="4755192"/>
            <a:ext cx="786446" cy="294917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NodeDeviceReport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20240" y="2022290"/>
            <a:ext cx="786446" cy="294917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47857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DriverInstallPolicy+ UpgradePolicy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20240" y="2494158"/>
            <a:ext cx="786446" cy="294917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47857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DriverUpgradeState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5345026"/>
            <a:ext cx="786446" cy="294917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47857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DS: npu-op-detector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7716" y="5345026"/>
            <a:ext cx="786446" cy="294917"/>
          </a:xfrm>
          <a:prstGeom prst="roundRect">
            <a:avLst/>
          </a:prstGeom>
          <a:solidFill>
            <a:srgbClr val="DDD6FE"/>
          </a:solidFill>
          <a:ln w="9525">
            <a:solidFill>
              <a:srgbClr val="6D28D9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DS: npu-op-device-plugin-nvidia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01113" y="5345026"/>
            <a:ext cx="786446" cy="294917"/>
          </a:xfrm>
          <a:prstGeom prst="roundRect">
            <a:avLst/>
          </a:prstGeom>
          <a:solidFill>
            <a:srgbClr val="FED7AA"/>
          </a:solidFill>
          <a:ln w="9525">
            <a:solidFill>
              <a:srgbClr val="C2410C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DS: npu-op-device-plugin-furiosa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64510" y="5345026"/>
            <a:ext cx="786446" cy="294917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DS: npu-op-device-plugin-furiosa-rngd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27907" y="5345026"/>
            <a:ext cx="786446" cy="294917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B45309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DS: npu-op-device-plugin-rbln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5816894"/>
            <a:ext cx="786446" cy="294917"/>
          </a:xfrm>
          <a:prstGeom prst="roundRect">
            <a:avLst/>
          </a:prstGeom>
          <a:solidFill>
            <a:srgbClr val="F0FDF4"/>
          </a:solidFill>
          <a:ln w="9525">
            <a:solidFill>
              <a:srgbClr val="166534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DS: npu-op-device-plugin-tenstorrent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37716" y="5816894"/>
            <a:ext cx="786446" cy="294917"/>
          </a:xfrm>
          <a:prstGeom prst="roundRect">
            <a:avLst/>
          </a:prstGeom>
          <a:solidFill>
            <a:srgbClr val="EDE9FE"/>
          </a:solidFill>
          <a:ln w="9525">
            <a:solidFill>
              <a:srgbClr val="6D28D9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Job: npu-op-installer-&amp;lt;node&amp;gt;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01113" y="5816894"/>
            <a:ext cx="786446" cy="294917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DS: npu-op-driver-&amp;lt;vendor&amp;gt;-&amp;lt;model&amp;gt;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64510" y="5816894"/>
            <a:ext cx="786446" cy="294917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47857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Node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8194" y="1078555"/>
            <a:ext cx="786446" cy="294917"/>
          </a:xfrm>
          <a:prstGeom prst="roundRect">
            <a:avLst/>
          </a:prstGeom>
          <a:solidFill>
            <a:srgbClr val="DDD6FE"/>
          </a:solidFill>
          <a:ln w="9525">
            <a:solidFill>
              <a:srgbClr val="6D28D9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detector Pod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8194" y="1550422"/>
            <a:ext cx="786446" cy="294917"/>
          </a:xfrm>
          <a:prstGeom prst="roundRect">
            <a:avLst/>
          </a:prstGeom>
          <a:solidFill>
            <a:srgbClr val="DDD6FE"/>
          </a:solidFill>
          <a:ln w="9525">
            <a:solidFill>
              <a:srgbClr val="6D28D9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nvidia-device-plugin Pod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2286" y="3811456"/>
            <a:ext cx="786446" cy="294917"/>
          </a:xfrm>
          <a:prstGeom prst="roundRect">
            <a:avLst/>
          </a:prstGeom>
          <a:solidFill>
            <a:srgbClr val="FED7AA"/>
          </a:solidFill>
          <a:ln w="9525">
            <a:solidFill>
              <a:srgbClr val="C2410C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detector Pod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2286" y="4283324"/>
            <a:ext cx="786446" cy="294917"/>
          </a:xfrm>
          <a:prstGeom prst="roundRect">
            <a:avLst/>
          </a:prstGeom>
          <a:solidFill>
            <a:srgbClr val="FED7AA"/>
          </a:solidFill>
          <a:ln w="9525">
            <a:solidFill>
              <a:srgbClr val="C2410C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furiosa-device-plugin Pod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20240" y="3811456"/>
            <a:ext cx="786446" cy="294917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detector Pod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20240" y="4283324"/>
            <a:ext cx="786446" cy="294917"/>
          </a:xfrm>
          <a:prstGeom prst="round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rbln-device-plugin / tt-device-plugin Pod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27907" y="5816894"/>
            <a:ext cx="786446" cy="294917"/>
          </a:xfrm>
          <a:prstGeom prst="roundRect">
            <a:avLst/>
          </a:prstGeom>
          <a:solidFill>
            <a:srgbClr val="DBEAFE"/>
          </a:solidFill>
          <a:ln w="9525">
            <a:solidFill>
              <a:srgbClr val="1E40AF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DRV1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6288762"/>
            <a:ext cx="786446" cy="294917"/>
          </a:xfrm>
          <a:prstGeom prst="roundRect">
            <a:avLst/>
          </a:prstGeom>
          <a:solidFill>
            <a:srgbClr val="D1FAE5"/>
          </a:solidFill>
          <a:ln w="9525">
            <a:solidFill>
              <a:srgbClr val="047857"/>
            </a:solidFill>
          </a:ln>
          <a:effectLst/>
        </p:spPr>
        <p:txBody>
          <a:bodyPr rtlCol="0" anchor="ctr" wrap="square" tIns="25400" bIns="25400" lIns="50800" rIns="50800"/>
          <a:lstStyle/>
          <a:p>
            <a:pPr algn="ctr"/>
            <a:r>
              <a:rPr sz="900" b="0">
                <a:solidFill>
                  <a:srgbClr val="1E293B"/>
                </a:solidFill>
                <a:ea typeface="맑은 고딕"/>
                <a:latin typeface="맑은 고딕"/>
              </a:rPr>
              <a:t>DRV2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5509" y="1373472"/>
            <a:ext cx="1" cy="176950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39" name="Connector 38"/>
          <p:cNvCxnSpPr/>
          <p:nvPr/>
        </p:nvCxnSpPr>
        <p:spPr>
          <a:xfrm>
            <a:off x="785509" y="1373472"/>
            <a:ext cx="1" cy="648818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40" name="Connector 39"/>
          <p:cNvCxnSpPr/>
          <p:nvPr/>
        </p:nvCxnSpPr>
        <p:spPr>
          <a:xfrm>
            <a:off x="785509" y="1373472"/>
            <a:ext cx="1" cy="1120686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>
            <a:off x="785509" y="1373472"/>
            <a:ext cx="1" cy="1592554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42" name="Connector 41"/>
          <p:cNvCxnSpPr/>
          <p:nvPr/>
        </p:nvCxnSpPr>
        <p:spPr>
          <a:xfrm flipH="1">
            <a:off x="1178732" y="1226013"/>
            <a:ext cx="941508" cy="471867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43" name="TextBox 42"/>
          <p:cNvSpPr txBox="1"/>
          <p:nvPr/>
        </p:nvSpPr>
        <p:spPr>
          <a:xfrm>
            <a:off x="1100846" y="132478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watches For()</a:t>
            </a:r>
          </a:p>
        </p:txBody>
      </p:sp>
      <p:cxnSp>
        <p:nvCxnSpPr>
          <p:cNvPr id="44" name="Connector 43"/>
          <p:cNvCxnSpPr/>
          <p:nvPr/>
        </p:nvCxnSpPr>
        <p:spPr>
          <a:xfrm flipH="1" flipV="1">
            <a:off x="785509" y="2317207"/>
            <a:ext cx="1727954" cy="2437985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45" name="TextBox 44"/>
          <p:cNvSpPr txBox="1"/>
          <p:nvPr/>
        </p:nvSpPr>
        <p:spPr>
          <a:xfrm>
            <a:off x="1100846" y="3399039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watches For() + pred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1178732" y="2169748"/>
            <a:ext cx="941508" cy="1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47" name="TextBox 46"/>
          <p:cNvSpPr txBox="1"/>
          <p:nvPr/>
        </p:nvSpPr>
        <p:spPr>
          <a:xfrm>
            <a:off x="1100846" y="203258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Watches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178732" y="2169748"/>
            <a:ext cx="941508" cy="471868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49" name="TextBox 48"/>
          <p:cNvSpPr txBox="1"/>
          <p:nvPr/>
        </p:nvSpPr>
        <p:spPr>
          <a:xfrm>
            <a:off x="1100846" y="226852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watches For()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1178732" y="2641616"/>
            <a:ext cx="941508" cy="471868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51" name="TextBox 50"/>
          <p:cNvSpPr txBox="1"/>
          <p:nvPr/>
        </p:nvSpPr>
        <p:spPr>
          <a:xfrm>
            <a:off x="1100846" y="274039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watches For()</a:t>
            </a:r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785509" y="3260943"/>
            <a:ext cx="1727954" cy="1494249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53" name="TextBox 52"/>
          <p:cNvSpPr txBox="1"/>
          <p:nvPr/>
        </p:nvSpPr>
        <p:spPr>
          <a:xfrm>
            <a:off x="1100846" y="3870907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Watches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1178732" y="2169748"/>
            <a:ext cx="941508" cy="943736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55" name="TextBox 54"/>
          <p:cNvSpPr txBox="1"/>
          <p:nvPr/>
        </p:nvSpPr>
        <p:spPr>
          <a:xfrm>
            <a:off x="1100846" y="25044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Watches</a:t>
            </a:r>
          </a:p>
        </p:txBody>
      </p:sp>
      <p:cxnSp>
        <p:nvCxnSpPr>
          <p:cNvPr id="56" name="Connector 55"/>
          <p:cNvCxnSpPr/>
          <p:nvPr/>
        </p:nvCxnSpPr>
        <p:spPr>
          <a:xfrm flipH="1">
            <a:off x="667543" y="1845339"/>
            <a:ext cx="117966" cy="3499687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177886" y="345802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ensure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85509" y="1845339"/>
            <a:ext cx="845430" cy="3499687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59" name="TextBox 58"/>
          <p:cNvSpPr txBox="1"/>
          <p:nvPr/>
        </p:nvSpPr>
        <p:spPr>
          <a:xfrm>
            <a:off x="659584" y="345802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Nvidia.Enabled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85509" y="1845339"/>
            <a:ext cx="1808827" cy="3499687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61" name="TextBox 60"/>
          <p:cNvSpPr txBox="1"/>
          <p:nvPr/>
        </p:nvSpPr>
        <p:spPr>
          <a:xfrm>
            <a:off x="1141282" y="345802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Furiosa.Enabled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85509" y="1845339"/>
            <a:ext cx="2772224" cy="3499687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63" name="TextBox 62"/>
          <p:cNvSpPr txBox="1"/>
          <p:nvPr/>
        </p:nvSpPr>
        <p:spPr>
          <a:xfrm>
            <a:off x="1622981" y="345802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Furiosa.Rngd.Enabled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85509" y="1845339"/>
            <a:ext cx="3735621" cy="3499687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65" name="TextBox 64"/>
          <p:cNvSpPr txBox="1"/>
          <p:nvPr/>
        </p:nvSpPr>
        <p:spPr>
          <a:xfrm>
            <a:off x="2104679" y="345802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Rebellions.Enabled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667543" y="1845339"/>
            <a:ext cx="117966" cy="3971555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67" name="TextBox 66"/>
          <p:cNvSpPr txBox="1"/>
          <p:nvPr/>
        </p:nvSpPr>
        <p:spPr>
          <a:xfrm>
            <a:off x="177886" y="369395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Tenstorrent.Enabled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85509" y="2317207"/>
            <a:ext cx="845430" cy="3499687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69" name="TextBox 68"/>
          <p:cNvSpPr txBox="1"/>
          <p:nvPr/>
        </p:nvSpPr>
        <p:spPr>
          <a:xfrm>
            <a:off x="659584" y="392989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creates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85509" y="2789075"/>
            <a:ext cx="1808827" cy="3027819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71" name="TextBox 70"/>
          <p:cNvSpPr txBox="1"/>
          <p:nvPr/>
        </p:nvSpPr>
        <p:spPr>
          <a:xfrm>
            <a:off x="1141282" y="416582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creates OnDelete DS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85509" y="3260943"/>
            <a:ext cx="2772224" cy="2555951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73" name="TextBox 72"/>
          <p:cNvSpPr txBox="1"/>
          <p:nvPr/>
        </p:nvSpPr>
        <p:spPr>
          <a:xfrm>
            <a:off x="1622981" y="440175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cordon/drain/uncordon</a:t>
            </a:r>
          </a:p>
        </p:txBody>
      </p:sp>
      <p:cxnSp>
        <p:nvCxnSpPr>
          <p:cNvPr id="74" name="Connector 73"/>
          <p:cNvCxnSpPr/>
          <p:nvPr/>
        </p:nvCxnSpPr>
        <p:spPr>
          <a:xfrm flipH="1">
            <a:off x="2513463" y="1373472"/>
            <a:ext cx="1727954" cy="3381720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75" name="TextBox 74"/>
          <p:cNvSpPr txBox="1"/>
          <p:nvPr/>
        </p:nvSpPr>
        <p:spPr>
          <a:xfrm>
            <a:off x="2828800" y="292717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PCI scan 30screate/update NDR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1178732" y="3958914"/>
            <a:ext cx="941508" cy="943736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77" name="TextBox 76"/>
          <p:cNvSpPr txBox="1"/>
          <p:nvPr/>
        </p:nvSpPr>
        <p:spPr>
          <a:xfrm>
            <a:off x="1100846" y="429362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PCI scan 30screate/update NDR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2513463" y="4106373"/>
            <a:ext cx="1" cy="648819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sp>
        <p:nvSpPr>
          <p:cNvPr id="79" name="TextBox 78"/>
          <p:cNvSpPr txBox="1"/>
          <p:nvPr/>
        </p:nvSpPr>
        <p:spPr>
          <a:xfrm>
            <a:off x="1964823" y="429362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475569"/>
                </a:solidFill>
              </a:rPr>
              <a:t>PCI scan 30s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667543" y="1373472"/>
            <a:ext cx="3573874" cy="3971554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81" name="Connector 80"/>
          <p:cNvCxnSpPr/>
          <p:nvPr/>
        </p:nvCxnSpPr>
        <p:spPr>
          <a:xfrm flipV="1">
            <a:off x="667543" y="4106373"/>
            <a:ext cx="117966" cy="1238653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82" name="Connector 81"/>
          <p:cNvCxnSpPr/>
          <p:nvPr/>
        </p:nvCxnSpPr>
        <p:spPr>
          <a:xfrm flipV="1">
            <a:off x="667543" y="4106373"/>
            <a:ext cx="1845920" cy="1238653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83" name="Connector 82"/>
          <p:cNvCxnSpPr/>
          <p:nvPr/>
        </p:nvCxnSpPr>
        <p:spPr>
          <a:xfrm flipV="1">
            <a:off x="1630939" y="1845339"/>
            <a:ext cx="2610478" cy="3499687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84" name="Connector 83"/>
          <p:cNvCxnSpPr/>
          <p:nvPr/>
        </p:nvCxnSpPr>
        <p:spPr>
          <a:xfrm flipH="1" flipV="1">
            <a:off x="1178732" y="4430782"/>
            <a:ext cx="1022381" cy="1061702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85" name="Connector 84"/>
          <p:cNvCxnSpPr/>
          <p:nvPr/>
        </p:nvCxnSpPr>
        <p:spPr>
          <a:xfrm flipH="1" flipV="1">
            <a:off x="1178732" y="4430782"/>
            <a:ext cx="1985778" cy="1061702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86" name="Connector 85"/>
          <p:cNvCxnSpPr/>
          <p:nvPr/>
        </p:nvCxnSpPr>
        <p:spPr>
          <a:xfrm flipH="1" flipV="1">
            <a:off x="2906686" y="4430782"/>
            <a:ext cx="1221221" cy="1061702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87" name="Connector 86"/>
          <p:cNvCxnSpPr/>
          <p:nvPr/>
        </p:nvCxnSpPr>
        <p:spPr>
          <a:xfrm flipV="1">
            <a:off x="667543" y="4578241"/>
            <a:ext cx="1845920" cy="1238653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88" name="Connector 87"/>
          <p:cNvCxnSpPr/>
          <p:nvPr/>
        </p:nvCxnSpPr>
        <p:spPr>
          <a:xfrm>
            <a:off x="2987559" y="5964352"/>
            <a:ext cx="1140348" cy="1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  <p:cxnSp>
        <p:nvCxnSpPr>
          <p:cNvPr id="89" name="Connector 88"/>
          <p:cNvCxnSpPr/>
          <p:nvPr/>
        </p:nvCxnSpPr>
        <p:spPr>
          <a:xfrm flipH="1">
            <a:off x="1060766" y="5964352"/>
            <a:ext cx="1140347" cy="471868"/>
          </a:xfrm>
          <a:prstGeom prst="bentConnector3">
            <a:avLst/>
          </a:prstGeom>
          <a:ln w="15240">
            <a:solidFill>
              <a:srgbClr val="475569"/>
            </a:solidFill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